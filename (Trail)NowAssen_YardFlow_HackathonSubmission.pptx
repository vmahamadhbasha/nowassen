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2743200" cy="2743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HACKATHON  |  PROBLEM STATEMENT LOG-05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Yard Operations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Intelligence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ServiceNow-based platform that manages the complete truck journey — from registration and gate entry to document verification, inspection, loading/unloading and digital exit — while continuously calculating dwell time, detecting significant delays, prioritizing vehicles, and quantifying detention cost impact.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1E3A5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1937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1832" y="543153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NowAssen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5925312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Mahamadh Basha Vanipenta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 |  Yard Operations &amp; Delay Intelligence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PROBLEM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Information &amp; 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71800" y="196596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9572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Institution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71800" y="239572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82549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71800" y="282549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Mahamadh Basha Vanipenta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255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Members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71800" y="325526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68503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Chosen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71800" y="368503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LOG-05 – Yard Operations &amp; Delay Intelligence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5669280" cy="4846320"/>
          </a:xfrm>
          <a:prstGeom prst="roundRect">
            <a:avLst>
              <a:gd name="adj" fmla="val 1509"/>
            </a:avLst>
          </a:prstGeom>
          <a:solidFill>
            <a:srgbClr val="1428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6276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96596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yards manage the truck journey — registration, document verification, inspection, loading/unloading and exit — through manual, disconnected processes.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880360"/>
            <a:ext cx="5120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system to track dwell time, detect significant delays as they happen, prioritize waiting trucks, capture root causes, or quantify the detention cost impact of hold-ups.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12064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1605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slow turnarounds, opaque bottlenecks and rising detention costs — with no way to explain to management where time is lost, why it happened, and what to do next.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521208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impacted: Gate Operators · Document Verification Team · Inspectors · Yard/Loading Operators · Yard Managers · Depot/Logistics Management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PROBLEM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ServiceNow-based Yard Operations &amp; Delay Intelligence System that manages the vehicle journey from registration and gate entry through document verification, inspection, loading/unloading and digital exit — turning it into a measurable, phase-level operational timeline.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606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0815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Complete Journey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429000"/>
            <a:ext cx="3209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Truck Journey record links registration, documents, phase tasks, slot, delay records, gate pass and exit.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97680" y="242316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2606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30815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Significant Delays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98848" y="3429000"/>
            <a:ext cx="3209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threshold (Actual &gt; Expected × 1.5) automatically flags delays and makes a reason mandatory.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046720" y="2423160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6060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7888" y="3081528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Waiting Trucks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47888" y="3429000"/>
            <a:ext cx="3209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ranks trucks by remaining time, current delay, task urgency and resource availability.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4178808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3616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4837176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Root Causes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5184648"/>
            <a:ext cx="3209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significant delay is linked to a phase, reason, timestamp and responsible team — not just a number.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297680" y="4178808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98848" y="43616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4498848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498848" y="4837176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Detention Cost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98848" y="5184648"/>
            <a:ext cx="3209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excess dwell time into a configurable, rate-based detention cost for every journey.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046720" y="4178808"/>
            <a:ext cx="3611880" cy="1572768"/>
          </a:xfrm>
          <a:prstGeom prst="roundRect">
            <a:avLst>
              <a:gd name="adj" fmla="val 46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43616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47888" y="4837176"/>
            <a:ext cx="3209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Operational Intelligence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47888" y="5184648"/>
            <a:ext cx="3209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answer Where, How much, Why, and What next — for management action.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Truck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asks for the full vehicle journey, not just three phases. Every step below updates one central Truck Journey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87268" y="196596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F6F7FA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42132" y="202082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25112" y="239115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196596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F6F7FA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9704" y="202082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72684" y="239115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11" name="Shape 9"/>
          <p:cNvSpPr/>
          <p:nvPr/>
        </p:nvSpPr>
        <p:spPr>
          <a:xfrm>
            <a:off x="5582412" y="196596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142850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37276" y="202082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37276" y="202082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0256" y="239115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6729984" y="196596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F6F7FA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202082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/ Yard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67828" y="239115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18" name="Shape 16"/>
          <p:cNvSpPr/>
          <p:nvPr/>
        </p:nvSpPr>
        <p:spPr>
          <a:xfrm>
            <a:off x="7877556" y="196596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F6F7FA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32420" y="202082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87268" y="352044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142850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42132" y="357530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42132" y="357530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25112" y="394563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24" name="Shape 22"/>
          <p:cNvSpPr/>
          <p:nvPr/>
        </p:nvSpPr>
        <p:spPr>
          <a:xfrm>
            <a:off x="4434840" y="352044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142850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89704" y="357530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Unloading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9704" y="357530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Unloading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72684" y="394563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28" name="Shape 26"/>
          <p:cNvSpPr/>
          <p:nvPr/>
        </p:nvSpPr>
        <p:spPr>
          <a:xfrm>
            <a:off x="5582412" y="352044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F6F7FA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37276" y="357530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0256" y="394563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9984" y="352044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F6F7FA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84848" y="357530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767828" y="3945636"/>
            <a:ext cx="96012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34" name="Shape 32"/>
          <p:cNvSpPr/>
          <p:nvPr/>
        </p:nvSpPr>
        <p:spPr>
          <a:xfrm>
            <a:off x="7877556" y="3520440"/>
            <a:ext cx="1024128" cy="960120"/>
          </a:xfrm>
          <a:prstGeom prst="roundRect">
            <a:avLst>
              <a:gd name="adj" fmla="val 7619"/>
            </a:avLst>
          </a:prstGeom>
          <a:solidFill>
            <a:srgbClr val="F6F7FA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50800" dist="25400" dir="5400000">
              <a:srgbClr val="8C98A8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932420" y="3575304"/>
            <a:ext cx="9144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89620" y="2926080"/>
            <a:ext cx="0" cy="155448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99332" y="3081528"/>
            <a:ext cx="4590288" cy="0"/>
          </a:xfrm>
          <a:prstGeom prst="line">
            <a:avLst/>
          </a:prstGeom>
          <a:noFill/>
          <a:ln w="19050">
            <a:solidFill>
              <a:srgbClr val="B9C2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4468" y="3081528"/>
            <a:ext cx="109728" cy="420624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" y="48920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42850"/>
          </a:solidFill>
          <a:ln/>
        </p:spPr>
      </p:sp>
      <p:sp>
        <p:nvSpPr>
          <p:cNvPr id="40" name="Text 38"/>
          <p:cNvSpPr/>
          <p:nvPr/>
        </p:nvSpPr>
        <p:spPr>
          <a:xfrm>
            <a:off x="896112" y="486460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operational phase (kept simple — 3 phases, not 8–10)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CF3E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544068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revolves around one Truck Journey / Visit. Documents, Inspection and Loading/Unloading each contribute their own delay, which rolls up into the overall journey → Entry-to-Exit time → Dwell Time → Detention Cost.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Model — Truck Journey as the 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142850"/>
          </a:solidFill>
          <a:ln/>
          <a:effectLst>
            <a:outerShdw sx="100000" sy="100000" kx="0" ky="0" algn="bl" rotWithShape="0" blurRad="76200" dist="25400" dir="5400000">
              <a:srgbClr val="8C98A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761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0358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 Journey / Visit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record for the entire vehicle visit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138160" y="108813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6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108813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3401568"/>
            <a:ext cx="4297680" cy="-1984248"/>
          </a:xfrm>
          <a:prstGeom prst="line">
            <a:avLst/>
          </a:prstGeom>
          <a:noFill/>
          <a:ln w="15875">
            <a:solidFill>
              <a:srgbClr val="C7CF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186537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6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86537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Tasks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 Verify / Inspect / Load)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3401568"/>
            <a:ext cx="4297680" cy="-1207008"/>
          </a:xfrm>
          <a:prstGeom prst="line">
            <a:avLst/>
          </a:prstGeom>
          <a:noFill/>
          <a:ln w="15875">
            <a:solidFill>
              <a:srgbClr val="C7CF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64261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6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64261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(Yard / Bay)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3401568"/>
            <a:ext cx="4297680" cy="-429768"/>
          </a:xfrm>
          <a:prstGeom prst="line">
            <a:avLst/>
          </a:prstGeom>
          <a:noFill/>
          <a:ln w="15875">
            <a:solidFill>
              <a:srgbClr val="C7CF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341985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6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41985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Records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401568"/>
            <a:ext cx="4297680" cy="347472"/>
          </a:xfrm>
          <a:prstGeom prst="line">
            <a:avLst/>
          </a:prstGeom>
          <a:noFill/>
          <a:ln w="15875">
            <a:solidFill>
              <a:srgbClr val="C7CF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419709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6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19709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3401568"/>
            <a:ext cx="4297680" cy="1124712"/>
          </a:xfrm>
          <a:prstGeom prst="line">
            <a:avLst/>
          </a:prstGeom>
          <a:noFill/>
          <a:ln w="15875">
            <a:solidFill>
              <a:srgbClr val="C7CF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497433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6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497433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401568"/>
            <a:ext cx="4297680" cy="1901952"/>
          </a:xfrm>
          <a:prstGeom prst="line">
            <a:avLst/>
          </a:prstGeom>
          <a:noFill/>
          <a:ln w="15875">
            <a:solidFill>
              <a:srgbClr val="C7CF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5751576"/>
            <a:ext cx="1965960" cy="658368"/>
          </a:xfrm>
          <a:prstGeom prst="roundRect">
            <a:avLst>
              <a:gd name="adj" fmla="val 9722"/>
            </a:avLst>
          </a:prstGeom>
          <a:solidFill>
            <a:srgbClr val="F6F7FA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5751576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Record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3401568"/>
            <a:ext cx="4297680" cy="2679192"/>
          </a:xfrm>
          <a:prstGeom prst="line">
            <a:avLst/>
          </a:prstGeom>
          <a:noFill/>
          <a:ln w="15875">
            <a:solidFill>
              <a:srgbClr val="C7CF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091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 Journey links to every downstream record — so the system can always answer “why was this truck delayed?” by tracing back through phase, reason, timestamp and responsible team.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Differentiation — Delay &amp; Priority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727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DELAY RULE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983480" cy="594360"/>
          </a:xfrm>
          <a:prstGeom prst="roundRect">
            <a:avLst>
              <a:gd name="adj" fmla="val 9231"/>
            </a:avLst>
          </a:prstGeom>
          <a:solidFill>
            <a:srgbClr val="1428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2024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Delay  =  Actual Duration  &gt;  Expected Duration × 1.5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63347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Expected = 20 min · Actual = 35 min → threshold 30 min → 35 &gt; 30 → Delay Reason becomes mandatory.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chain captured for every incident: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→ Phase → Delay (minutes) → Reason → Timestamp → Responsible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4285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72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PRIORITY ENGINE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Time + Current Delay + Task Urgency + Resource Availability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2743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kept rule-based — not a complex AI model — so it stays transparent, explainable and buildable within the hackathon timeline.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resource frees up, the system recommends the highest-priority eligible truck.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PRIORITY QUEUE — EXAMPLE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5440680" cy="1691640"/>
        </p:xfrm>
        <a:graphic>
          <a:graphicData uri="http://schemas.openxmlformats.org/drawingml/2006/table">
            <a:tbl>
              <a:tblPr/>
              <a:tblGrid>
                <a:gridCol w="1810512"/>
                <a:gridCol w="1810512"/>
                <a:gridCol w="1819656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Critical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🟠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172200" y="397764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400800" y="4434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the full delay chain (not just a number) lets management ask “Why was T101 delayed?” and get a direct answer — e.g. “Document Verification caused 15 minutes of significant delay due to missing documentation.” This turns raw timestamps into operational accountability.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Intelligence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three separate AI agents — three focused capabilities built on the same journey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142850"/>
          </a:solidFill>
          <a:ln/>
          <a:effectLst>
            <a:outerShdw sx="100000" sy="100000" kx="0" ky="0" algn="bl" rotWithShape="0" blurRad="63500" dist="25400" dir="5400000">
              <a:srgbClr val="8C98A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 Intelligence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WHERE and WHY delays happen — aggregating phase-level delay records into bottleneck and root-cause views.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4599432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99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core logic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88536" y="182880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63500" dist="25400" dir="5400000">
              <a:srgbClr val="8C98A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2856" y="2148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4562856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62856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Intelligence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62856" y="3383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eligible truck should be handled next, using the rule-based priority engine at every resource hand-off.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62856" y="4599432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1B3A63"/>
          </a:solidFill>
          <a:ln/>
        </p:spPr>
      </p:sp>
      <p:sp>
        <p:nvSpPr>
          <p:cNvPr id="18" name="Text 16"/>
          <p:cNvSpPr/>
          <p:nvPr/>
        </p:nvSpPr>
        <p:spPr>
          <a:xfrm>
            <a:off x="4562856" y="4599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core logic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28432" y="1828800"/>
            <a:ext cx="3566160" cy="3337560"/>
          </a:xfrm>
          <a:prstGeom prst="roundRect">
            <a:avLst>
              <a:gd name="adj" fmla="val 2740"/>
            </a:avLst>
          </a:prstGeom>
          <a:solidFill>
            <a:srgbClr val="5B6B82"/>
          </a:solidFill>
          <a:ln/>
          <a:effectLst>
            <a:outerShdw sx="100000" sy="100000" kx="0" ky="0" algn="bl" rotWithShape="0" blurRad="63500" dist="25400" dir="5400000">
              <a:srgbClr val="8C98A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2148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B7C93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02752" y="2834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Intelligence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2752" y="33832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truck or phase is likely to become delayed next, ahead of time.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02752" y="4599432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45536B"/>
          </a:solidFill>
          <a:ln/>
        </p:spPr>
      </p:sp>
      <p:sp>
        <p:nvSpPr>
          <p:cNvPr id="25" name="Text 23"/>
          <p:cNvSpPr/>
          <p:nvPr/>
        </p:nvSpPr>
        <p:spPr>
          <a:xfrm>
            <a:off x="8302752" y="45994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roadmap capability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— Dwell Time &amp; Detention Cost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Time − Entry Time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30552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09:00 → 11:10 = 2h 10m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551176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243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Dwell Time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8895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+ Processing 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17296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for meaningful bottleneck analytics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593592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6674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Time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Dwell Time − Free (Allowed)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215384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2h 45m − 2h allowed = 45 min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5532120" cy="914400"/>
          </a:xfrm>
          <a:prstGeom prst="roundRect">
            <a:avLst>
              <a:gd name="adj" fmla="val 7000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09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Cost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1520" y="497433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Time × Detention Rate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45 min × ₹500/hr = ₹375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55080" y="150876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14285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691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INTELLIGENCE — WORKED EXAMPLE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0" y="20574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205740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Loading/Unloading is the biggest bottleneck.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264261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2642616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hours 40 minutes of total delay.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322783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322783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unavailability caused 42% of the delay.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8130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01000" y="38130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detention cost ₹18,500.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439826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NEXT?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01000" y="4398264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loading bay availability during the 2 PM–5 PM peak period.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5001768"/>
            <a:ext cx="48463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511149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doesn’t just report numbers — it turns the truck’s complete yard journey into a measurable, phase-level timeline that drives real operational decisions.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703320"/>
                <a:gridCol w="5074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/ 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in the 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Portal + Now 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registration, driver guidance, and field task screens for inspectors &amp; operators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/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Engine Studio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scoped Yard Operations application on the ServiceNow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Designer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Document Verification → Inspection → Loading/Unloading task lifecycle, SLAs &amp; escalations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scan-in/out, gate systems and external system connectivity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Yard, Phase Bottlenecks, Delay Reasons and Business Impact dashboards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/ GenAI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Agent + Generative AI 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guidance queries and AI-assisted delay-reason summaries (human-approved)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Tables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Truck Journey, Documents, Phase Tasks, Slot, Delay Records, Gate Pass, Exit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 Tools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 Generation · Digital Signature Capture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gate pass issuance and paperless task sign-off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— Implementation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14285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2697480" cy="365760"/>
          </a:xfrm>
          <a:prstGeom prst="rect">
            <a:avLst/>
          </a:prstGeom>
          <a:solidFill>
            <a:srgbClr val="14285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18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Week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Setup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23317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scoped application, custom tables (Vehicle, Truck Journey, Documents, Phase Tasks, Slot), roles, and the Service Portal registration form.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800600"/>
            <a:ext cx="23317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9377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184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&amp; data model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3602736"/>
            <a:ext cx="100584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50876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50876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1920240"/>
            <a:ext cx="269748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1618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Week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1874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Automation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566160" y="2468880"/>
            <a:ext cx="23317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Flow Designer workflows for the 3-phase task lifecycle, the 1.5× delay-threshold rule, SLA automation and notifications.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4800600"/>
            <a:ext cx="23317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49377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5184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yard operations workflow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99048" y="3602736"/>
            <a:ext cx="100584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50876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50876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0E7C74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920240"/>
            <a:ext cx="2697480" cy="365760"/>
          </a:xfrm>
          <a:prstGeom prst="rect">
            <a:avLst/>
          </a:prstGeom>
          <a:solidFill>
            <a:srgbClr val="0E7C7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618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Week 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1874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&amp; Integrations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400800" y="2468880"/>
            <a:ext cx="23317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rule-based priority engine, slot allocation logic, Integration Hub (QR scan), and Virtual Agent / GenAI driver guidance.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4800600"/>
            <a:ext cx="23317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9377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5184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decision support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33688" y="3602736"/>
            <a:ext cx="100584" cy="109728"/>
          </a:xfrm>
          <a:prstGeom prst="rightArrow">
            <a:avLst/>
          </a:prstGeom>
          <a:solidFill>
            <a:srgbClr val="B9C2D0"/>
          </a:solidFill>
          <a:ln/>
        </p:spPr>
      </p:sp>
      <p:sp>
        <p:nvSpPr>
          <p:cNvPr id="34" name="Shape 32"/>
          <p:cNvSpPr/>
          <p:nvPr/>
        </p:nvSpPr>
        <p:spPr>
          <a:xfrm>
            <a:off x="9052560" y="1508760"/>
            <a:ext cx="2697480" cy="429768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150876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F5A623"/>
          </a:solidFill>
          <a:ln/>
        </p:spPr>
      </p:sp>
      <p:sp>
        <p:nvSpPr>
          <p:cNvPr id="36" name="Shape 34"/>
          <p:cNvSpPr/>
          <p:nvPr/>
        </p:nvSpPr>
        <p:spPr>
          <a:xfrm>
            <a:off x="9052560" y="1920240"/>
            <a:ext cx="269748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9235440" y="161848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Week 4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35440" y="187452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Deployment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9235440" y="2468880"/>
            <a:ext cx="23317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testing, UAT, dashboard tuning (Performance Analytics), and demo preparation.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35440" y="4800600"/>
            <a:ext cx="233172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35440" y="493776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35440" y="5184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hackathon solution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Assessment — Can It Be Built Now?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E8F0EA"/>
          </a:solidFill>
          <a:ln w="12700">
            <a:solidFill>
              <a:srgbClr val="C7DD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Feasibility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fits well within the ServiceNow ecosystem using native platform features — no exotic or unsupported technology is required: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App Engine Studio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9992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Flow Designer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009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Integration Hub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60273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Performance Analytics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90448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Now Mobile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Virtual Agent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68680" y="450799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Generative AI Controller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80974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Custom Tables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86400" cy="4617720"/>
          </a:xfrm>
          <a:prstGeom prst="roundRect">
            <a:avLst>
              <a:gd name="adj" fmla="val 1782"/>
            </a:avLst>
          </a:prstGeom>
          <a:solidFill>
            <a:srgbClr val="E8F0EA"/>
          </a:solidFill>
          <a:ln w="12700">
            <a:solidFill>
              <a:srgbClr val="C7DD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Feasibility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20848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hackathon timeline, the team can demonstrably show: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45059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An end-to-end truck journey workflow (registration → exit)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Rule-based delay detection &amp; significant-delay flagging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21868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Priority queue with live re-ranking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60273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Slot/bay allocation &amp; driver guidance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398678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Digital gate pass with QR-based exit validation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437083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Dwell time &amp; detention cost calculation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75488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An executive/management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184648"/>
            <a:ext cx="5074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modular — predictive analytics can be presented as a roadmap capability without needing a full production-scale deployment.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VISUAL AIDS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explicitly calls for exceptions. These are handled as first-class flows, not afterthoughts: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97480" cy="425196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2487168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Documents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3200400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truck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42516" y="3721608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845052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8450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recorded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42516" y="4366260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4489704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48970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42516" y="5010912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5134356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513435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after correction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1828800"/>
            <a:ext cx="2697480" cy="425196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47872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22" name="Text 20"/>
          <p:cNvSpPr/>
          <p:nvPr/>
        </p:nvSpPr>
        <p:spPr>
          <a:xfrm>
            <a:off x="3547872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47872" y="2487168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Loading Bay Available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547872" y="3200400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enters waiting queue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77156" y="3721608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27" name="Shape 25"/>
          <p:cNvSpPr/>
          <p:nvPr/>
        </p:nvSpPr>
        <p:spPr>
          <a:xfrm>
            <a:off x="3547872" y="3845052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38450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recalculated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77156" y="4366260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30" name="Shape 28"/>
          <p:cNvSpPr/>
          <p:nvPr/>
        </p:nvSpPr>
        <p:spPr>
          <a:xfrm>
            <a:off x="3547872" y="4489704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448970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when bay is free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1828800"/>
            <a:ext cx="2697480" cy="425196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2512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4" name="Text 32"/>
          <p:cNvSpPr/>
          <p:nvPr/>
        </p:nvSpPr>
        <p:spPr>
          <a:xfrm>
            <a:off x="6382512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382512" y="2487168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 Failure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382512" y="3200400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blocked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11796" y="3721608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39" name="Shape 37"/>
          <p:cNvSpPr/>
          <p:nvPr/>
        </p:nvSpPr>
        <p:spPr>
          <a:xfrm>
            <a:off x="6382512" y="3845052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38450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supervisor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11796" y="4366260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82512" y="4489704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55664" y="448970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inspection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052560" y="1828800"/>
            <a:ext cx="2697480" cy="4251960"/>
          </a:xfrm>
          <a:prstGeom prst="roundRect">
            <a:avLst>
              <a:gd name="adj" fmla="val 3051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17152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46" name="Text 44"/>
          <p:cNvSpPr/>
          <p:nvPr/>
        </p:nvSpPr>
        <p:spPr>
          <a:xfrm>
            <a:off x="9217152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217152" y="2487168"/>
            <a:ext cx="23682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Gate Pass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9217152" y="3200400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90304" y="32004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blocked at gate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346436" y="3721608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51" name="Shape 49"/>
          <p:cNvSpPr/>
          <p:nvPr/>
        </p:nvSpPr>
        <p:spPr>
          <a:xfrm>
            <a:off x="9217152" y="3845052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90304" y="3845052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triggered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0346436" y="4366260"/>
            <a:ext cx="109728" cy="109728"/>
          </a:xfrm>
          <a:prstGeom prst="downArrow">
            <a:avLst/>
          </a:prstGeom>
          <a:solidFill>
            <a:srgbClr val="B9C2D0"/>
          </a:solidFill>
          <a:ln/>
        </p:spPr>
      </p:sp>
      <p:sp>
        <p:nvSpPr>
          <p:cNvPr id="54" name="Shape 52"/>
          <p:cNvSpPr/>
          <p:nvPr/>
        </p:nvSpPr>
        <p:spPr>
          <a:xfrm>
            <a:off x="9217152" y="4489704"/>
            <a:ext cx="236829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0304" y="4489704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operator resolves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VISUAL AIDS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3A5F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Live Yard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" y="22311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1305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Inside Yard: 32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95528" y="256032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597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" y="28895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889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" y="321868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1181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3A5F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733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Phase Bottlenecks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64808" y="223113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13055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 — 18%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64808" y="256032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24597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— 14%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64808" y="288950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7889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Loading/Unloading — 52%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64808" y="321868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311810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— 16%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3A5F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96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Delay Reasons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95528" y="46542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5537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unavailable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" y="498348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48828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5528" y="531266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2120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unavailable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5528" y="564184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54126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/ Operator unavailable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93192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1E3A5F"/>
          </a:solidFill>
          <a:ln w="12700">
            <a:solidFill>
              <a:srgbClr val="2C4A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0965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Business Impact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64808" y="4654296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45537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Turnaround Time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64808" y="4983480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48828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Dwell 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64808" y="5312664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52120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Delay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64808" y="5641848"/>
            <a:ext cx="73152" cy="7315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554126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Detention Cost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 |  Yard Operations &amp; Delay Intelligence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Outcomes &amp; Real-World Applicability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4285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2763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Turnaround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priority queue reduces avoidable waiting between phases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0E7C74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162763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Delay Visibility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02152" y="2240280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significant delay traced to phase, reason, timestamp &amp; team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142850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62763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Quantified Detention Cost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91072" y="2240280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rate converts excess dwell time into real cost, per journey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51760" cy="1737360"/>
          </a:xfrm>
          <a:prstGeom prst="roundRect">
            <a:avLst>
              <a:gd name="adj" fmla="val 4737"/>
            </a:avLst>
          </a:prstGeom>
          <a:solidFill>
            <a:srgbClr val="0E7C74"/>
          </a:solidFill>
          <a:ln/>
        </p:spPr>
      </p:sp>
      <p:sp>
        <p:nvSpPr>
          <p:cNvPr id="14" name="Text 12"/>
          <p:cNvSpPr/>
          <p:nvPr/>
        </p:nvSpPr>
        <p:spPr>
          <a:xfrm>
            <a:off x="9079992" y="1627632"/>
            <a:ext cx="2322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 Accuracy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79992" y="2240280"/>
            <a:ext cx="23225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D8E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Phase-level analytics show exactly where time is lost (e.g. Loading/Unloading 52%)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109960" cy="2606040"/>
          </a:xfrm>
          <a:prstGeom prst="roundRect">
            <a:avLst>
              <a:gd name="adj" fmla="val 3158"/>
            </a:avLst>
          </a:prstGeom>
          <a:solidFill>
            <a:srgbClr val="F6F7FA"/>
          </a:solidFill>
          <a:ln w="12700">
            <a:solidFill>
              <a:srgbClr val="E2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118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4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10565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0233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any depot, warehouse, port or distribution-center yard managing inbound/outbound truck traffic.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59028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50799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Detention rate is configurable per carrier/contract — no hard-coded business rules to change for production rollout.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07492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9926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architecture: the Predictive Intelligence capability can be layered on later without redesigning the data model.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5559552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4772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ServiceNow platform means it plugs into existing ITSM/enterprise workflows already used by logistics teams.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EXPERTISE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Assignment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4523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Mahamadh Basha Vanipenta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 &amp; Solution Architect — leads the project, designs the overall Truck Journey data model &amp; workflow, coordinates the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added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Engine Studio Developer — builds the scoped application, forms &amp; Service Portal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added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&amp; Automation Developer — Flow Designer workflows, SLA &amp; delay-threshold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added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&amp; Mobile Developer — Integration Hub, QR scan, Now Mobile driver guidance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added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Priority Intelligence Developer — rule-based priority engine, Virtual Agent / GenAI Controller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5B6B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added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&amp; Testing Lead — Performance Analytics dashboards, UAT &amp; quality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Mapping: each member’s ServiceNow / development strength is mapped to their assigned role above; remaining member names to be confirmed by the team.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| Yard Operations &amp; Delay Intelligence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NowAssen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Operations &amp; Delay Intelligence System  ·  Problem Statement LOG-05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877824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Documentation: https://docs.servicenow.com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Engine Studio · Flow Designer · Integration Hub · Performance Analytics · Virtual Agent · Generative AI Controller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Mahamadh Basha Vanipenta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NowAssen  |  Yard Operations &amp; Delay Intelligence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2026-09-05T12:50:43Z</dcterms:created>
  <dcterms:modified xsi:type="dcterms:W3CDTF">2026-09-05T12:50:43Z</dcterms:modified>
</cp:coreProperties>
</file>